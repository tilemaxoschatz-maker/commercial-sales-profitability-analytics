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9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4a868f5aa4763" /><Relationship Type="http://schemas.openxmlformats.org/officeDocument/2006/relationships/extended-properties" Target="/docProps/app.xml" Id="R5ce23e6364b54a8e" /><Relationship Type="http://schemas.openxmlformats.org/officeDocument/2006/relationships/officeDocument" Target="/ppt/presentation.xml" Id="R8ebbdd69933a42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a9660958a48ba"/>
  </p:sldMasterIdLst>
  <p:notesMasterIdLst>
    <p:notesMasterId xmlns:r="http://schemas.openxmlformats.org/officeDocument/2006/relationships" r:id="R2df52d3bc3eb4c81"/>
  </p:notesMasterIdLst>
  <p:sldIdLst>
    <p:sldId xmlns:r="http://schemas.openxmlformats.org/officeDocument/2006/relationships" id="256" r:id="R99c6ba7052034599"/>
    <p:sldId xmlns:r="http://schemas.openxmlformats.org/officeDocument/2006/relationships" id="257" r:id="R908ac09bf16e4ebd"/>
    <p:sldId xmlns:r="http://schemas.openxmlformats.org/officeDocument/2006/relationships" id="258" r:id="R7419fa7cd75a4495"/>
    <p:sldId xmlns:r="http://schemas.openxmlformats.org/officeDocument/2006/relationships" id="259" r:id="Rdb3030c6e6bb454b"/>
    <p:sldId xmlns:r="http://schemas.openxmlformats.org/officeDocument/2006/relationships" id="260" r:id="R65c22cc4bb8b4bb6"/>
    <p:sldId xmlns:r="http://schemas.openxmlformats.org/officeDocument/2006/relationships" id="261" r:id="R15763acd18ab48e0"/>
    <p:sldId xmlns:r="http://schemas.openxmlformats.org/officeDocument/2006/relationships" id="262" r:id="R8a6ba93224e946b7"/>
    <p:sldId xmlns:r="http://schemas.openxmlformats.org/officeDocument/2006/relationships" id="263" r:id="R5fab5431a7f040a0"/>
    <p:sldId xmlns:r="http://schemas.openxmlformats.org/officeDocument/2006/relationships" id="264" r:id="R9dde543ad1ff46b6"/>
    <p:sldId xmlns:r="http://schemas.openxmlformats.org/officeDocument/2006/relationships" id="265" r:id="Rc8a533fefa8c46b3"/>
    <p:sldId xmlns:r="http://schemas.openxmlformats.org/officeDocument/2006/relationships" id="266" r:id="R5b7a181ab964407b"/>
    <p:sldId xmlns:r="http://schemas.openxmlformats.org/officeDocument/2006/relationships" id="267" r:id="Rcacf245d54a149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88f44cf5524a5e" /><Relationship Type="http://schemas.openxmlformats.org/officeDocument/2006/relationships/slideMaster" Target="/ppt/slideMasters/slideMaster1.xml" Id="R2c9a9660958a48ba" /><Relationship Type="http://schemas.openxmlformats.org/officeDocument/2006/relationships/notesMaster" Target="/ppt/notesMasters/notesMaster1.xml" Id="R2df52d3bc3eb4c81" /><Relationship Type="http://schemas.openxmlformats.org/officeDocument/2006/relationships/presProps" Target="/ppt/presProps.xml" Id="R21b1eb4362aa443d" /><Relationship Type="http://schemas.openxmlformats.org/officeDocument/2006/relationships/tableStyles" Target="/ppt/tableStyles.xml" Id="R8216672444bf4ae7" /><Relationship Type="http://schemas.openxmlformats.org/officeDocument/2006/relationships/slide" Target="/ppt/slides/slide1.xml" Id="R99c6ba7052034599" /><Relationship Type="http://schemas.openxmlformats.org/officeDocument/2006/relationships/slide" Target="/ppt/slides/slide2.xml" Id="R908ac09bf16e4ebd" /><Relationship Type="http://schemas.openxmlformats.org/officeDocument/2006/relationships/slide" Target="/ppt/slides/slide3.xml" Id="R7419fa7cd75a4495" /><Relationship Type="http://schemas.openxmlformats.org/officeDocument/2006/relationships/slide" Target="/ppt/slides/slide4.xml" Id="Rdb3030c6e6bb454b" /><Relationship Type="http://schemas.openxmlformats.org/officeDocument/2006/relationships/slide" Target="/ppt/slides/slide5.xml" Id="R65c22cc4bb8b4bb6" /><Relationship Type="http://schemas.openxmlformats.org/officeDocument/2006/relationships/slide" Target="/ppt/slides/slide6.xml" Id="R15763acd18ab48e0" /><Relationship Type="http://schemas.openxmlformats.org/officeDocument/2006/relationships/slide" Target="/ppt/slides/slide7.xml" Id="R8a6ba93224e946b7" /><Relationship Type="http://schemas.openxmlformats.org/officeDocument/2006/relationships/slide" Target="/ppt/slides/slide8.xml" Id="R5fab5431a7f040a0" /><Relationship Type="http://schemas.openxmlformats.org/officeDocument/2006/relationships/slide" Target="/ppt/slides/slide9.xml" Id="R9dde543ad1ff46b6" /><Relationship Type="http://schemas.openxmlformats.org/officeDocument/2006/relationships/slide" Target="/ppt/slides/slide10.xml" Id="Rc8a533fefa8c46b3" /><Relationship Type="http://schemas.openxmlformats.org/officeDocument/2006/relationships/slide" Target="/ppt/slides/slide11.xml" Id="R5b7a181ab964407b" /><Relationship Type="http://schemas.openxmlformats.org/officeDocument/2006/relationships/slide" Target="/ppt/slides/slide12.xml" Id="Rcacf245d54a149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f1cfd534054f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a5f03ac904a44" /><Relationship Type="http://schemas.openxmlformats.org/officeDocument/2006/relationships/notesMaster" Target="/ppt/notesMasters/notesMaster1.xml" Id="R88a8e08a684f45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74e015f97f4df2" /><Relationship Type="http://schemas.openxmlformats.org/officeDocument/2006/relationships/notesMaster" Target="/ppt/notesMasters/notesMaster1.xml" Id="Rbbc482d43ef542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fec5a1c8ad4e33" /><Relationship Type="http://schemas.openxmlformats.org/officeDocument/2006/relationships/notesMaster" Target="/ppt/notesMasters/notesMaster1.xml" Id="R4bb734b7f7b047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32dcf62f794804" /><Relationship Type="http://schemas.openxmlformats.org/officeDocument/2006/relationships/notesMaster" Target="/ppt/notesMasters/notesMaster1.xml" Id="R90fd1a8ff16545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5b7d9dbd2044df" /><Relationship Type="http://schemas.openxmlformats.org/officeDocument/2006/relationships/notesMaster" Target="/ppt/notesMasters/notesMaster1.xml" Id="R4b04f1a1e0f9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9620c476994759" /><Relationship Type="http://schemas.openxmlformats.org/officeDocument/2006/relationships/notesMaster" Target="/ppt/notesMasters/notesMaster1.xml" Id="R42728d5cd69049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99c2ce6e254309" /><Relationship Type="http://schemas.openxmlformats.org/officeDocument/2006/relationships/notesMaster" Target="/ppt/notesMasters/notesMaster1.xml" Id="Rd8b91fb219c34d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2be25a06b446d8" /><Relationship Type="http://schemas.openxmlformats.org/officeDocument/2006/relationships/notesMaster" Target="/ppt/notesMasters/notesMaster1.xml" Id="R2f15c3198d6f47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4400cfe0994dfa" /><Relationship Type="http://schemas.openxmlformats.org/officeDocument/2006/relationships/notesMaster" Target="/ppt/notesMasters/notesMaster1.xml" Id="Rf391258e43044c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b7faad9c044249" /><Relationship Type="http://schemas.openxmlformats.org/officeDocument/2006/relationships/notesMaster" Target="/ppt/notesMasters/notesMaster1.xml" Id="R0016abba2f894f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485e8d94b043c6" /><Relationship Type="http://schemas.openxmlformats.org/officeDocument/2006/relationships/notesMaster" Target="/ppt/notesMasters/notesMaster1.xml" Id="R510c03779af541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c72b9ef5c34fee" /><Relationship Type="http://schemas.openxmlformats.org/officeDocument/2006/relationships/notesMaster" Target="/ppt/notesMasters/notesMaster1.xml" Id="Rbafa523da3f2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READ_ME and EXECUTIVE_SUMMARY tabs; presentation scope and dataset metadata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READ_ME, CLEAN_DATA, FEATURE_ENGINEERING, PIVOT, BUSINESS_ANALYSIS, DASHBOARD and EXECUTIVE_SUMMARY tabs; dashboard image is rendered from the workbook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DASHBOARD and EXECUTIVE_SUMMARY KPI blocks; totals, margin, customers and loss-making rate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PIVOT yearly performance and BUSINESS_ANALYSIS rows 13–14; annual sales, profit and year-over-year growth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PIVOT monthly seasonality and EXECUTIVE_SUMMARY seasonality finding; monthly sales and December profit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PIVOT category and sub-category performance; BUSINESS_ANALYSIS rows 19–22; sales share, profit share and margins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PIVOT sub-category performance and BUSINESS_ANALYSIS rows 21–22; profit and margin by selected sub-category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PIVOT discount strategy analysis and EXECUTIVE_SUMMARY discount risk; weighted margins and bucket profit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PIVOT profitable versus loss-making transactions and EXECUTIVE_SUMMARY loss exposure; transaction count, sales and profit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PIVOT regional and customer segment performance; BUSINESS_ANALYSIS rows 26–29; weighted margins and contribution shares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PIVOT customer profitability and BUSINESS_ANALYSIS row 30; sales, profit, margin and customer rankings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Sales, Profitability &amp; Customer Analytics workbook — BUSINESS_ANALYSIS recommended actions and EXECUTIVE_SUMMARY priorities 1–6; synthesized into four operating priorities</a:t>
            </a:r>
          </a:p>
          <a:p xmlns:a="http://schemas.openxmlformats.org/drawingml/2006/main">
            <a:r>
              <a:t>- Dataset: Sample Superstore, 9,994 transaction rows, 2014–2017.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35b8e77d84d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b381812704261" /><Relationship Type="http://schemas.openxmlformats.org/officeDocument/2006/relationships/slideLayout" Target="/ppt/slideLayouts/slideLayout1.xml" Id="R400a0129fde640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0a0129fde640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f6016d13e4751" /><Relationship Type="http://schemas.openxmlformats.org/officeDocument/2006/relationships/notesSlide" Target="/ppt/notesSlides/notesSlide1.xml" Id="R051f19e38eab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eb7f3dcf14416" /><Relationship Type="http://schemas.openxmlformats.org/officeDocument/2006/relationships/image" Target="/ppt/media/image.png" Id="R8a1da4520d0141b1" /><Relationship Type="http://schemas.openxmlformats.org/officeDocument/2006/relationships/notesSlide" Target="/ppt/notesSlides/notesSlide2.xml" Id="R20ac430487dc49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4aec39aa54584" /><Relationship Type="http://schemas.openxmlformats.org/officeDocument/2006/relationships/notesSlide" Target="/ppt/notesSlides/notesSlide3.xml" Id="R490e4a680f08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81d1ae75843c1" /><Relationship Type="http://schemas.openxmlformats.org/officeDocument/2006/relationships/chart" Target="/ppt/slides/charts/chart1.xml" Id="R380c135e3edb44ac" /><Relationship Type="http://schemas.openxmlformats.org/officeDocument/2006/relationships/notesSlide" Target="/ppt/notesSlides/notesSlide4.xml" Id="R66ae31256fee43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fdb01891e4ae8" /><Relationship Type="http://schemas.openxmlformats.org/officeDocument/2006/relationships/chart" Target="/ppt/slides/charts/chart2.xml" Id="Rcc4a3e355ba849bb" /><Relationship Type="http://schemas.openxmlformats.org/officeDocument/2006/relationships/notesSlide" Target="/ppt/notesSlides/notesSlide5.xml" Id="Rb058671003274c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bc3fabc004484" /><Relationship Type="http://schemas.openxmlformats.org/officeDocument/2006/relationships/chart" Target="/ppt/slides/charts/chart3.xml" Id="R0247ff6bd27a4d67" /><Relationship Type="http://schemas.openxmlformats.org/officeDocument/2006/relationships/notesSlide" Target="/ppt/notesSlides/notesSlide6.xml" Id="R7cba5225b2d04e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34f4acb2d43ad" /><Relationship Type="http://schemas.openxmlformats.org/officeDocument/2006/relationships/chart" Target="/ppt/slides/charts/chart4.xml" Id="R685ba3617b8f4cc2" /><Relationship Type="http://schemas.openxmlformats.org/officeDocument/2006/relationships/notesSlide" Target="/ppt/notesSlides/notesSlide7.xml" Id="R43e74346d6074c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fb908c2174415" /><Relationship Type="http://schemas.openxmlformats.org/officeDocument/2006/relationships/chart" Target="/ppt/slides/charts/chart5.xml" Id="Rfd5c8a38505a4e9a" /><Relationship Type="http://schemas.openxmlformats.org/officeDocument/2006/relationships/notesSlide" Target="/ppt/notesSlides/notesSlide8.xml" Id="R4d751bbeb17b42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f3bdb1f5b4d7a" /><Relationship Type="http://schemas.openxmlformats.org/officeDocument/2006/relationships/chart" Target="/ppt/slides/charts/chart6.xml" Id="R0629bc61a06d4b97" /><Relationship Type="http://schemas.openxmlformats.org/officeDocument/2006/relationships/notesSlide" Target="/ppt/notesSlides/notesSlide9.xml" Id="R6152edca012f43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474abb28149a8" /><Relationship Type="http://schemas.openxmlformats.org/officeDocument/2006/relationships/chart" Target="/ppt/slides/charts/chart7.xml" Id="Rffb5300a33714ba8" /><Relationship Type="http://schemas.openxmlformats.org/officeDocument/2006/relationships/chart" Target="/ppt/slides/charts/chart8.xml" Id="Raf01eee5608f44a0" /><Relationship Type="http://schemas.openxmlformats.org/officeDocument/2006/relationships/notesSlide" Target="/ppt/notesSlides/notesSlide10.xml" Id="R128e49fa324b45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76094ab074c47" /><Relationship Type="http://schemas.openxmlformats.org/officeDocument/2006/relationships/chart" Target="/ppt/slides/charts/chart9.xml" Id="R9e2e99885847470b" /><Relationship Type="http://schemas.openxmlformats.org/officeDocument/2006/relationships/notesSlide" Target="/ppt/notesSlides/notesSlide11.xml" Id="R1540e3b7dba848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31f5f6b73410b" /><Relationship Type="http://schemas.openxmlformats.org/officeDocument/2006/relationships/notesSlide" Target="/ppt/notesSlides/notesSlide12.xml" Id="R3cd2c0025009468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Sales ($K)</c:v>
          </c:tx>
          <c:spPr>
            <a:ln xmlns:a="http://schemas.openxmlformats.org/drawingml/2006/main" w="38100">
              <a:solidFill>
                <a:srgbClr val="2274D4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2274D4"/>
              </a:solidFill>
            </c:spPr>
          </c:marker>
          <c:cat>
            <c:numLit>
              <c:formatCode>General</c:formatCode>
              <c:ptCount val="4"/>
              <c:pt idx="0">
                <c:v>2014</c:v>
              </c:pt>
              <c:pt idx="1">
                <c:v>2015</c:v>
              </c:pt>
              <c:pt idx="2">
                <c:v>2016</c:v>
              </c:pt>
              <c:pt idx="3">
                <c:v>2017</c:v>
              </c:pt>
            </c:numLit>
          </c:cat>
          <c:val>
            <c:numLit>
              <c:formatCode>$0"K"</c:formatCode>
              <c:ptCount val="4"/>
              <c:pt idx="0">
                <c:v>484.2</c:v>
              </c:pt>
              <c:pt idx="1">
                <c:v>470.5</c:v>
              </c:pt>
              <c:pt idx="2">
                <c:v>609.2</c:v>
              </c:pt>
              <c:pt idx="3">
                <c:v>733.2</c:v>
              </c:pt>
            </c:numLit>
          </c:val>
        </c:ser>
        <c:ser>
          <c:idx val="1"/>
          <c:order val="1"/>
          <c:tx>
            <c:v>Profit ($K)</c:v>
          </c:tx>
          <c:spPr>
            <a:ln xmlns:a="http://schemas.openxmlformats.org/drawingml/2006/main" w="38100">
              <a:solidFill>
                <a:srgbClr val="2E8B57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2E8B57"/>
              </a:solidFill>
            </c:spPr>
          </c:marker>
          <c:cat>
            <c:numLit>
              <c:formatCode>General</c:formatCode>
              <c:ptCount val="4"/>
              <c:pt idx="0">
                <c:v>2014</c:v>
              </c:pt>
              <c:pt idx="1">
                <c:v>2015</c:v>
              </c:pt>
              <c:pt idx="2">
                <c:v>2016</c:v>
              </c:pt>
              <c:pt idx="3">
                <c:v>2017</c:v>
              </c:pt>
            </c:numLit>
          </c:cat>
          <c:val>
            <c:numLit>
              <c:formatCode>$0"K"</c:formatCode>
              <c:ptCount val="4"/>
              <c:pt idx="0">
                <c:v>49.5</c:v>
              </c:pt>
              <c:pt idx="1">
                <c:v>61.6</c:v>
              </c:pt>
              <c:pt idx="2">
                <c:v>81.8</c:v>
              </c:pt>
              <c:pt idx="3">
                <c:v>93.4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7"/>
              </a:solidFill>
              <a:prstDash val="solid"/>
            </a:ln>
          </c:spPr>
        </c:majorGridlines>
        <c:numFmt formatCode="$0&quot;K&quot;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Sales ($K)</c:v>
          </c:tx>
          <c:spPr>
            <a:solidFill xmlns:a="http://schemas.openxmlformats.org/drawingml/2006/main">
              <a:srgbClr val="62A8FF"/>
            </a:solidFill>
          </c:spPr>
          <c:dPt>
            <c:idx val="8"/>
            <c:invertIfNegative val="0"/>
            <c:spPr>
              <a:solidFill xmlns:a="http://schemas.openxmlformats.org/drawingml/2006/main">
                <a:srgbClr val="2274D4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2274D4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2274D4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2274D4"/>
              </a:solidFill>
            </c:spPr>
          </c:dPt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$0"K"</c:formatCode>
              <c:ptCount val="12"/>
              <c:pt idx="0">
                <c:v>94.9</c:v>
              </c:pt>
              <c:pt idx="1">
                <c:v>59.8</c:v>
              </c:pt>
              <c:pt idx="2">
                <c:v>205</c:v>
              </c:pt>
              <c:pt idx="3">
                <c:v>137.8</c:v>
              </c:pt>
              <c:pt idx="4">
                <c:v>155</c:v>
              </c:pt>
              <c:pt idx="5">
                <c:v>152.7</c:v>
              </c:pt>
              <c:pt idx="6">
                <c:v>147.2</c:v>
              </c:pt>
              <c:pt idx="7">
                <c:v>159</c:v>
              </c:pt>
              <c:pt idx="8">
                <c:v>307.6</c:v>
              </c:pt>
              <c:pt idx="9">
                <c:v>200.3</c:v>
              </c:pt>
              <c:pt idx="10">
                <c:v>352.5</c:v>
              </c:pt>
              <c:pt idx="11">
                <c:v>325.3</c:v>
              </c:pt>
            </c:numLit>
          </c:val>
        </c:ser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7"/>
              </a:solidFill>
              <a:prstDash val="solid"/>
            </a:ln>
          </c:spPr>
        </c:majorGridlines>
        <c:numFmt formatCode="$0&quot;K&quot;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Sales share</c:v>
          </c:tx>
          <c:spPr>
            <a:solidFill xmlns:a="http://schemas.openxmlformats.org/drawingml/2006/main">
              <a:srgbClr val="62A8FF"/>
            </a:solidFill>
          </c:spPr>
          <c:cat>
            <c:strLit>
              <c:ptCount val="3"/>
              <c:pt idx="0">
                <c:v>Technology</c:v>
              </c:pt>
              <c:pt idx="1">
                <c:v>Furniture</c:v>
              </c:pt>
              <c:pt idx="2">
                <c:v>Office Supplies</c:v>
              </c:pt>
            </c:strLit>
          </c:cat>
          <c:val>
            <c:numLit>
              <c:formatCode>0.0%</c:formatCode>
              <c:ptCount val="3"/>
              <c:pt idx="0">
                <c:v>0.364</c:v>
              </c:pt>
              <c:pt idx="1">
                <c:v>0.323</c:v>
              </c:pt>
              <c:pt idx="2">
                <c:v>0.313</c:v>
              </c:pt>
            </c:numLit>
          </c:val>
        </c:ser>
        <c:ser>
          <c:idx val="1"/>
          <c:order val="1"/>
          <c:tx>
            <c:v>Profit share</c:v>
          </c:tx>
          <c:spPr>
            <a:solidFill xmlns:a="http://schemas.openxmlformats.org/drawingml/2006/main">
              <a:srgbClr val="2274D4"/>
            </a:solidFill>
          </c:spPr>
          <c:cat>
            <c:strLit>
              <c:ptCount val="3"/>
              <c:pt idx="0">
                <c:v>Technology</c:v>
              </c:pt>
              <c:pt idx="1">
                <c:v>Furniture</c:v>
              </c:pt>
              <c:pt idx="2">
                <c:v>Office Supplies</c:v>
              </c:pt>
            </c:strLit>
          </c:cat>
          <c:val>
            <c:numLit>
              <c:formatCode>0.0%</c:formatCode>
              <c:ptCount val="3"/>
              <c:pt idx="0">
                <c:v>0.5079</c:v>
              </c:pt>
              <c:pt idx="1">
                <c:v>0.0644</c:v>
              </c:pt>
              <c:pt idx="2">
                <c:v>0.4277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B17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Profit ($K)</c:v>
          </c:tx>
          <c:spPr>
            <a:solidFill xmlns:a="http://schemas.openxmlformats.org/drawingml/2006/main">
              <a:srgbClr val="2E8B5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C43D3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3D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43D3D"/>
              </a:solidFill>
            </c:spPr>
          </c:dPt>
          <c:cat>
            <c:strLit>
              <c:ptCount val="4"/>
              <c:pt idx="0">
                <c:v>Tables</c:v>
              </c:pt>
              <c:pt idx="1">
                <c:v>Bookcases</c:v>
              </c:pt>
              <c:pt idx="2">
                <c:v>Supplies</c:v>
              </c:pt>
              <c:pt idx="3">
                <c:v>Machines</c:v>
              </c:pt>
            </c:strLit>
          </c:cat>
          <c:val>
            <c:numLit>
              <c:formatCode>$0.0"K"</c:formatCode>
              <c:ptCount val="4"/>
              <c:pt idx="0">
                <c:v>-17.7</c:v>
              </c:pt>
              <c:pt idx="1">
                <c:v>-3.5</c:v>
              </c:pt>
              <c:pt idx="2">
                <c:v>-1.2</c:v>
              </c:pt>
              <c:pt idx="3">
                <c:v>3.4</c:v>
              </c:pt>
            </c:numLit>
          </c:val>
        </c:ser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-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7"/>
              </a:solidFill>
              <a:prstDash val="solid"/>
            </a:ln>
          </c:spPr>
        </c:majorGridlines>
        <c:numFmt formatCode="$0.0&quot;K&quot;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Weighted margin</c:v>
          </c:tx>
          <c:spPr>
            <a:solidFill xmlns:a="http://schemas.openxmlformats.org/drawingml/2006/main">
              <a:srgbClr val="C43D3D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E8B5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274D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57A14"/>
              </a:solidFill>
            </c:spPr>
          </c:dPt>
          <c:cat>
            <c:strLit>
              <c:ptCount val="5"/>
              <c:pt idx="0">
                <c:v>No</c:v>
              </c:pt>
              <c:pt idx="1">
                <c:v>Low</c:v>
              </c:pt>
              <c:pt idx="2">
                <c:v>Medium</c:v>
              </c:pt>
              <c:pt idx="3">
                <c:v>High</c:v>
              </c:pt>
              <c:pt idx="4">
                <c:v>Very High</c:v>
              </c:pt>
            </c:strLit>
          </c:cat>
          <c:val>
            <c:numLit>
              <c:formatCode>0.0%</c:formatCode>
              <c:ptCount val="5"/>
              <c:pt idx="0">
                <c:v>0.2951</c:v>
              </c:pt>
              <c:pt idx="1">
                <c:v>0.1191</c:v>
              </c:pt>
              <c:pt idx="2">
                <c:v>-0.197</c:v>
              </c:pt>
              <c:pt idx="3">
                <c:v>-0.9737</c:v>
              </c:pt>
              <c:pt idx="4">
                <c:v>-1.8003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B17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Transaction share</c:v>
          </c:tx>
          <c:dPt>
            <c:idx val="0"/>
            <c:spPr>
              <a:solidFill xmlns:a="http://schemas.openxmlformats.org/drawingml/2006/main">
                <a:srgbClr val="2274D4"/>
              </a:solidFill>
            </c:spPr>
          </c:dPt>
          <c:dPt>
            <c:idx val="1"/>
            <c:spPr>
              <a:solidFill xmlns:a="http://schemas.openxmlformats.org/drawingml/2006/main">
                <a:srgbClr val="C43D3D"/>
              </a:solidFill>
            </c:spPr>
          </c:dPt>
          <c:cat>
            <c:strLit>
              <c:ptCount val="2"/>
              <c:pt idx="0">
                <c:v>Profitable</c:v>
              </c:pt>
              <c:pt idx="1">
                <c:v>Loss-making</c:v>
              </c:pt>
            </c:strLit>
          </c:cat>
          <c:val>
            <c:numLit>
              <c:formatCode>General</c:formatCode>
              <c:ptCount val="2"/>
              <c:pt idx="0">
                <c:v>81.28</c:v>
              </c:pt>
              <c:pt idx="1">
                <c:v>18.72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B1728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8"/>
      </c:doughnutChart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Margin</c:v>
          </c:tx>
          <c:spPr>
            <a:solidFill xmlns:a="http://schemas.openxmlformats.org/drawingml/2006/main">
              <a:srgbClr val="2274D4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C43D3D"/>
              </a:solidFill>
            </c:spPr>
          </c:dPt>
          <c:cat>
            <c:strLit>
              <c:ptCount val="4"/>
              <c:pt idx="0">
                <c:v>West</c:v>
              </c:pt>
              <c:pt idx="1">
                <c:v>East</c:v>
              </c:pt>
              <c:pt idx="2">
                <c:v>South</c:v>
              </c:pt>
              <c:pt idx="3">
                <c:v>Central</c:v>
              </c:pt>
            </c:strLit>
          </c:cat>
          <c:val>
            <c:numLit>
              <c:formatCode>0.0%</c:formatCode>
              <c:ptCount val="4"/>
              <c:pt idx="0">
                <c:v>0.1494</c:v>
              </c:pt>
              <c:pt idx="1">
                <c:v>0.1348</c:v>
              </c:pt>
              <c:pt idx="2">
                <c:v>0.1193</c:v>
              </c:pt>
              <c:pt idx="3">
                <c:v>0.0792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B17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Margin</c:v>
          </c:tx>
          <c:spPr>
            <a:solidFill xmlns:a="http://schemas.openxmlformats.org/drawingml/2006/main">
              <a:srgbClr val="2E8B5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C57A14"/>
              </a:solidFill>
            </c:spPr>
          </c:dPt>
          <c:cat>
            <c:strLit>
              <c:ptCount val="3"/>
              <c:pt idx="0">
                <c:v>Home Office</c:v>
              </c:pt>
              <c:pt idx="1">
                <c:v>Corporate</c:v>
              </c:pt>
              <c:pt idx="2">
                <c:v>Consumer</c:v>
              </c:pt>
            </c:strLit>
          </c:cat>
          <c:val>
            <c:numLit>
              <c:formatCode>0.0%</c:formatCode>
              <c:ptCount val="3"/>
              <c:pt idx="0">
                <c:v>0.1403</c:v>
              </c:pt>
              <c:pt idx="1">
                <c:v>0.1303</c:v>
              </c:pt>
              <c:pt idx="2">
                <c:v>0.1155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B17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Sales ($K)</c:v>
          </c:tx>
          <c:spPr>
            <a:solidFill xmlns:a="http://schemas.openxmlformats.org/drawingml/2006/main">
              <a:srgbClr val="62A8FF"/>
            </a:solidFill>
          </c:spPr>
          <c:cat>
            <c:strLit>
              <c:ptCount val="2"/>
              <c:pt idx="0">
                <c:v>Tamara Chand</c:v>
              </c:pt>
              <c:pt idx="1">
                <c:v>Sean Miller</c:v>
              </c:pt>
            </c:strLit>
          </c:cat>
          <c:val>
            <c:numLit>
              <c:formatCode>$0.0"K"</c:formatCode>
              <c:ptCount val="2"/>
              <c:pt idx="0">
                <c:v>19.1</c:v>
              </c:pt>
              <c:pt idx="1">
                <c:v>25</c:v>
              </c:pt>
            </c:numLit>
          </c:val>
        </c:ser>
        <c:ser>
          <c:idx val="1"/>
          <c:order val="1"/>
          <c:tx>
            <c:v>Profit ($K)</c:v>
          </c:tx>
          <c:spPr>
            <a:solidFill xmlns:a="http://schemas.openxmlformats.org/drawingml/2006/main">
              <a:srgbClr val="2E8B57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C43D3D"/>
              </a:solidFill>
            </c:spPr>
          </c:dPt>
          <c:cat>
            <c:strLit>
              <c:ptCount val="2"/>
              <c:pt idx="0">
                <c:v>Tamara Chand</c:v>
              </c:pt>
              <c:pt idx="1">
                <c:v>Sean Miller</c:v>
              </c:pt>
            </c:strLit>
          </c:cat>
          <c:val>
            <c:numLit>
              <c:formatCode>$0.0"K"</c:formatCode>
              <c:ptCount val="2"/>
              <c:pt idx="0">
                <c:v>9</c:v>
              </c:pt>
              <c:pt idx="1">
                <c:v>-2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B17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-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7"/>
              </a:solidFill>
              <a:prstDash val="solid"/>
            </a:ln>
          </c:spPr>
        </c:majorGridlines>
        <c:numFmt formatCode="$0.0&quot;K&quot;"/>
        <c:majorTickMark val="none"/>
        <c:minorTickMark val="none"/>
        <c:spPr>
          <a:ln xmlns:a="http://schemas.openxmlformats.org/drawingml/2006/main" w="9525">
            <a:solidFill>
              <a:srgbClr val="C8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47AE7-EE41-4A42-B463-18FD4257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13CD0-B9C3-4CC1-A1B6-86B1438A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EXECUTIVE ANALYTICS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420B3-B6DA-4FD9-9BAA-AEE778DD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19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Commercial Sales,</a:t>
            </a:r>
          </a:p>
          <a:p xmlns:a="http://schemas.openxmlformats.org/drawingml/2006/main">
            <a:pPr algn="l">
              <a:defRPr sz="51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Profitability &amp; Customer Analytics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1D1C3-933D-41B1-9954-4BB5A2C8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most important insights, analytical features and management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7162E-F538-4DC6-B182-38665375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Sample Superstore  |  2014–2017  |  9,994 transaction rows</a:t>
            </a:r>
          </a:p>
        </p:txBody>
      </p:sp>
    </p:spTree>
    <p:extLst>
      <p:ext uri="{BB962C8B-B14F-4D97-AF65-F5344CB8AC3E}">
        <p14:creationId xmlns:p14="http://schemas.microsoft.com/office/powerpoint/2010/main" val="229553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6C877-7BA0-4A50-B824-733CFC6B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WORKBOOK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78B0A-0864-47BC-AB50-4970A0C7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From 9,994 rows to management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C79B9-60E0-4ECC-8DD1-3BB4EB56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C2439-73E4-4FEC-940C-81257844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317CE-8F73-4776-BD4D-CD4D27EE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An end-to-end analytics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2AD68-5BA8-4AD8-80DE-9FB3FD8A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764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66B50-F022-42AB-8A45-B476C75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A2D58-4A00-4FBC-ABEA-9BF8815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Raw data preservation, cleaning and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C485F-EBED-4300-8BE6-396C8B18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C6D37-369A-4EEA-B4BB-C695231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718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D796F-04DD-4B56-A122-DE2145BD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8FF2E-1F62-434A-AA31-AD5759BB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14+ features for time, margin, discount, loss and order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5B1C3-7EB6-4B26-9452-9822C328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2E059-E216-4964-B6FE-3CE07478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4BEE6-9F8E-4001-95F3-A2F7A83F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47919-FF16-4760-8E10-1CD8308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Pivots across products, customers, regions, discounts and shipping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77FC7-5877-4521-82A2-B8A45411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1D524-10B0-492F-B281-AE8E8652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625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43483-89CD-46CA-AB44-98FDDFC4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Communicate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1647C-63AB-4EB5-B8AA-3BFDB0B3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339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Business questions, dashboard, executive summary and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792DC-D21A-4B91-B857-2549F31B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19250"/>
            <a:ext cx="63436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da4520d0141b1"/>
          <a:stretch xmlns:a="http://schemas.openxmlformats.org/drawingml/2006/main"/>
        </p:blipFill>
        <p:spPr>
          <a:xfrm xmlns:a="http://schemas.openxmlformats.org/drawingml/2006/main">
            <a:off x="5928910" y="1771650"/>
            <a:ext cx="5268130" cy="39433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E1090-5435-45B9-AF3D-D61C5DC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57900"/>
            <a:ext cx="634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8 linked sheets • 21 cleaned fields • 14+ analytical features</a:t>
            </a:r>
          </a:p>
        </p:txBody>
      </p:sp>
    </p:spTree>
    <p:extLst>
      <p:ext uri="{BB962C8B-B14F-4D97-AF65-F5344CB8AC3E}">
        <p14:creationId xmlns:p14="http://schemas.microsoft.com/office/powerpoint/2010/main" val="894788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289D6-526D-43FC-AA7B-DD1F9F3E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EXECUTIVE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CAF97-17BE-4A92-8905-98E0E1AE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Scale is healthy; revenue quality is the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69E1B-898A-4203-9848-542C0BB7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09991-6DF3-436E-8A77-378BC05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C1126-E96B-4C5D-96D9-2A67D48F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workbook reports positive growth and profit at scale, but the margin outcome varies sharply by product, discount, region and customer.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2EA92-8D8C-496C-8A1F-DB6EDEF8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07DAC-8DBA-4EAC-8ED9-BB184EA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3486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E7CBD-7524-4D4B-9DF8-FFBF714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$2.30M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54933-F988-474A-8E8D-AB9667AE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Total sales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E8F2D-AC78-4271-99C2-A6C361B9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2698A-8AE0-4C80-8897-FA620550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486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60EA6-1885-4DCF-8AB9-E96C74F2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$286.4K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80023-833B-403D-83C1-D7CE64BB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Total profit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C948D-675D-43D4-8264-78297BF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84DEE-4495-43AD-9570-DF8BE834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3486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F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B2D0A-3DC4-4134-BFE9-3B913908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C3F6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C3F6F"/>
                </a:solidFill>
                <a:latin typeface="Arial"/>
                <a:ea typeface="Arial"/>
                <a:cs typeface="Arial"/>
              </a:rPr>
              <a:t>12.47%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63388-8608-4A6B-9FB3-6D3E8769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Weighted profit margin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744A7-4005-40D2-96CF-82DFC974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5.0K orders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51D8B-EBED-432D-9F8D-4B09DA48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95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793 customers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46180-2D0A-419D-B4D6-212B261D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18.72% loss-making lines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7BDA9-C3AF-4A9D-8458-3AE367B0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95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2014–2017</a:t>
            </a:r>
          </a:p>
        </p:txBody>
      </p:sp>
    </p:spTree>
    <p:extLst>
      <p:ext uri="{BB962C8B-B14F-4D97-AF65-F5344CB8AC3E}">
        <p14:creationId xmlns:p14="http://schemas.microsoft.com/office/powerpoint/2010/main" val="2003726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86E50-C478-4F80-B688-41C822DF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50250-D337-4E63-A015-6ED846D4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Growth accelerated, but 2017 profit lagged sales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69406-43B4-4747-AE93-C76DEE15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8C81D-A088-493D-94A4-BDBA94F4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01F37-65DF-40FC-96F7-A567A3AC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70485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294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0c135e3edb44a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32307-B8D4-4CD9-8DC4-B88F3068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7909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AC50B-E702-444C-BA5A-75B4E0F8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2A162-FCBC-4753-92B2-5DE0E891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$733.2K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0031C-8EC2-4BF1-9E7A-74AD48DE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2017 sales — the four-year high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FC061-5FC0-4233-9196-FB966AFC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37909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9C7F0-4D1E-4CF4-BF55-4307B0D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5A697-AD7B-48D6-B1A7-2834ADEE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62A8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62A8FF"/>
                </a:solidFill>
                <a:latin typeface="Arial"/>
                <a:ea typeface="Arial"/>
                <a:cs typeface="Arial"/>
              </a:rPr>
              <a:t>+20.36%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160AB-69F2-4CCA-B4B2-CA64D16D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862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2017 sales 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C8991-DCDC-4A11-9C30-6123244B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7909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D82BD-7CD2-4077-B262-5E6E719E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D7E38-3B12-4DA4-8578-4086342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96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57A1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57A14"/>
                </a:solidFill>
                <a:latin typeface="Arial"/>
                <a:ea typeface="Arial"/>
                <a:cs typeface="Arial"/>
              </a:rPr>
              <a:t>+14.24%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32FAF-0936-41AC-966E-901B13C6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721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2017 profit growth — 6.1 pts behind sales</a:t>
            </a:r>
          </a:p>
        </p:txBody>
      </p:sp>
    </p:spTree>
    <p:extLst>
      <p:ext uri="{BB962C8B-B14F-4D97-AF65-F5344CB8AC3E}">
        <p14:creationId xmlns:p14="http://schemas.microsoft.com/office/powerpoint/2010/main" val="1032361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252AF-8008-44C6-96EE-10769EB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SEASONALITY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ADA81-AAC4-4E2C-97C5-0627C393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Q4 generates 51.6% of sales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E31ED-8E4D-443D-9081-6CAC449C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EEBAA-669B-4E4B-9CB2-56BD5EA6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A7C61-C401-4F86-929B-21337DF3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7905750" cy="45339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7486650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4a3e355ba849b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CB50F-4B52-4BE6-A01E-0391DDCF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52600"/>
            <a:ext cx="29718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0BBA6-B974-4F67-AD92-36A837EF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526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089CA-417D-41FB-92EE-D7027A15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$352.5K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370B8-E8DA-48DA-8A00-EFECC3F3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November — highest monthly sales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C23FE-48F3-4672-8F64-00C61EC8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9718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61B80-7BFC-4618-B5C6-32409190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17BF0-2B4D-4A80-BA26-0219EDB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$43.4K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41B75-2A60-48BF-96EF-AAEF4856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December — highest monthly profit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F5DD2-EEA8-438E-9450-26950013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4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3B7DC-BC69-4E97-8DB8-8D498D88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1020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Align inventory, staffing and campaigns to Sep–Dec—while protecting peak-period margin.</a:t>
            </a:r>
          </a:p>
        </p:txBody>
      </p:sp>
    </p:spTree>
    <p:extLst>
      <p:ext uri="{BB962C8B-B14F-4D97-AF65-F5344CB8AC3E}">
        <p14:creationId xmlns:p14="http://schemas.microsoft.com/office/powerpoint/2010/main" val="327979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170C9-09F0-43DE-A15C-3A6CF745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PRODUCT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FEF2E-A5ED-433F-922B-FEC9F6E2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Furniture carries scale without profit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36284-2BC6-490E-B7B4-2C31FACB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2D231-B020-4E68-9C1B-E0570FCF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EDE35-E3BB-4C4F-A676-17729504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71437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8859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47ff6bd27a4d6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119F4-D245-4E40-84A3-AF006755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7338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C2CA4-D119-422E-B8F1-399FEBE6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F2DE8-3746-4A1E-865D-8432F9C0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17.40%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D5053-1316-4148-A8B2-D3251D1B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Technology margin; 50.79% of total profit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D41E5-0EE8-42A5-8BF0-F05C4005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37338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7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D4A6C-39D8-4535-97C1-5DCEFD30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A8A2D-4D7F-4C7E-9115-9E5271F3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2.49%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33C29-064A-4D97-8919-4071C456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Furniture margin; only 6.44% of profit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5F2BB-FEBC-4BD7-950C-23CA2E7D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67250"/>
            <a:ext cx="37338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1FC7E-D35C-4FCC-81A6-55495861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67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E3FFF-D707-4A67-A5B6-EEFD490B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387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57A1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57A14"/>
                </a:solidFill>
                <a:latin typeface="Arial"/>
                <a:ea typeface="Arial"/>
                <a:cs typeface="Arial"/>
              </a:rPr>
              <a:t>$207.0K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DB79A-8BA4-4777-8FF4-E5CADF8C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91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Tables sales—yet the sub-category loses money</a:t>
            </a:r>
          </a:p>
        </p:txBody>
      </p:sp>
    </p:spTree>
    <p:extLst>
      <p:ext uri="{BB962C8B-B14F-4D97-AF65-F5344CB8AC3E}">
        <p14:creationId xmlns:p14="http://schemas.microsoft.com/office/powerpoint/2010/main" val="1030038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54711-CDB6-48D4-876E-B3677CC4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PRODUCT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981A1-6BC4-472A-A0E2-16406E0B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Three sub-categories are loss-making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2DB93-D204-48FD-9BD8-7C5519C7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E0108-72F4-4AEB-8ED5-D3D1D16A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B2DE4-CD2A-4341-89CE-5039CB77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80200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5ba3617b8f4cc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262F9-900E-4D48-B4F8-3098CB89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Priority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96201-9A72-4037-B4B7-98FFFFAB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050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824A5-6129-4546-891E-D1FB2CE7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−$17.7K profit</a:t>
            </a:r>
          </a:p>
          <a:p xmlns:a="http://schemas.openxmlformats.org/drawingml/2006/main">
            <a:pPr algn="l">
              <a:defRPr sz="210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−8.56% margin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8B259-8614-46F8-BF13-AF19AB67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0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1F1C3-707C-4456-8B24-FFC3A3D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Also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B35D0-08A8-440D-BB35-9A5FDB05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05350"/>
            <a:ext cx="272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Bookcases and Supplies are negative; Machines produces $189.2K sales at only 1.79% margin.</a:t>
            </a:r>
          </a:p>
        </p:txBody>
      </p:sp>
    </p:spTree>
    <p:extLst>
      <p:ext uri="{BB962C8B-B14F-4D97-AF65-F5344CB8AC3E}">
        <p14:creationId xmlns:p14="http://schemas.microsoft.com/office/powerpoint/2010/main" val="1769235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7D2E4-1058-4580-BC74-A7D747F2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DISCOUNT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92206-89A1-4BEB-AB8F-38EB8E23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Profit turns negative beyond Low Discount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AF752-DB69-40CA-9FB3-3100FAF8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7B365-3448-4146-B3E7-4E9938D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12833-140E-4D00-B6DB-DFA04FF4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78105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7353300" cy="4057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5c8a38505a4e9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E9675-B080-4CA1-B596-0C674543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30289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DD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B0928-99B6-4A2B-962A-47A78829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A4E44-361E-4347-B666-6CDC093C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050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29.51%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333EE-3C33-4456-9962-D90A6181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Discount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CF5D3-F04A-4F03-A3F9-4713185F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30289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7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7906D-6F74-412B-A447-1EAD8CDE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E3EC3-B916-4712-AE49-A0EBBBF5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−$135.4K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9CF8A-FCF1-4E2B-BD97-4524139A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Combined profit from Medium, High and Very High discount buckets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6A6F2-0F39-4A8C-A196-508D1FAE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4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Management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BA23F-8C56-47FA-B2A2-43378BA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2895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 Low Discount as the default ceiling; require explicit approval and economics above it.</a:t>
            </a:r>
          </a:p>
        </p:txBody>
      </p:sp>
    </p:spTree>
    <p:extLst>
      <p:ext uri="{BB962C8B-B14F-4D97-AF65-F5344CB8AC3E}">
        <p14:creationId xmlns:p14="http://schemas.microsoft.com/office/powerpoint/2010/main" val="631373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4F61A-04C8-4CA5-B045-F612D53F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LOSS EXPOSURE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DEDD9-DC8D-438F-AAF9-8C3BE52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One in five transactions destroys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8472A-4082-4914-AF1D-784A2CDD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D1C40-7D9D-4560-B425-3A5FC841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9BE31-D6C0-4894-9B2A-5085E09D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387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81050" y="1943100"/>
          <a:ext xmlns:a="http://schemas.openxmlformats.org/drawingml/2006/main" cx="46101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29bc61a06d4b9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E7148-E7DA-4179-A365-BA19BA85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55435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7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41D55-28C1-488A-84F5-F6EABEEE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EDA4F-CC1D-40EB-8E90-F35DB37C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1,871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5E972-DCA9-47E2-A779-A611FEE5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loss-making transaction lines out of 9,994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2B5DE-EAB9-476B-A480-5F0094D2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55435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F1A2D-7799-4EDE-A06F-E0C65CAB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32894-231A-41D5-B8FF-1B48677A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57A1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57A14"/>
                </a:solidFill>
                <a:latin typeface="Arial"/>
                <a:ea typeface="Arial"/>
                <a:cs typeface="Arial"/>
              </a:rPr>
              <a:t>$468.7K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9C70-781B-4540-8C40-3B6D8F0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sales attached to loss-making lines — 20.40% of revenue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B272B-576A-4A6C-877E-EF60E6C4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05350"/>
            <a:ext cx="55435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7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3F8CF-5766-45F1-BD92-03EE6545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053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16DC0-7931-4F05-866E-7194E054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−$156.1K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BCA6B-CD3D-4E00-A777-C8BE5A8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29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profit impact; profitable lines generate +$442.5K</a:t>
            </a:r>
          </a:p>
        </p:txBody>
      </p:sp>
    </p:spTree>
    <p:extLst>
      <p:ext uri="{BB962C8B-B14F-4D97-AF65-F5344CB8AC3E}">
        <p14:creationId xmlns:p14="http://schemas.microsoft.com/office/powerpoint/2010/main" val="1425322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E05C6-4188-480C-BD85-CF2AE87D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CUSTOMER &amp; GEOGRAPHY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9050A-D2F1-4AF2-B67B-DBD5BFC0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Margin quality varies by region and segment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99442-C59C-4648-A773-B28A8FED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EDEBE-2D49-40D1-85AB-84041D3B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84BE5-04EC-4074-A64F-4E79AB21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Regional margin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F00E0-F838-4387-86B5-578B89D9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Segment margin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958F9-7C2F-4D0A-8D4D-30CC14BF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3721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743CF-C184-427A-86C9-07FCB912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04850" y="2247900"/>
          <a:ext xmlns:a="http://schemas.openxmlformats.org/drawingml/2006/main" cx="4876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b5300a33714ba8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534150" y="224790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01eee5608f44a0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BA445-157A-4750-9FCA-8F9383FE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West contributes 37.86% of profit; Central contributes only 13.86% despite 21.82% of sales.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9AD03-F593-4654-BA10-18645721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24550"/>
            <a:ext cx="527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Home Office is smallest by sales but most margin-efficient; Consumer supplies scale at lower margin.</a:t>
            </a:r>
          </a:p>
        </p:txBody>
      </p:sp>
    </p:spTree>
    <p:extLst>
      <p:ext uri="{BB962C8B-B14F-4D97-AF65-F5344CB8AC3E}">
        <p14:creationId xmlns:p14="http://schemas.microsoft.com/office/powerpoint/2010/main" val="1132045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1EC06-74AE-49B4-9583-D6B92B6A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CUSTOMER PROFITABILITY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ACEB3-FD60-4150-87B7-C9105672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Revenue rank can hide customer losses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2A7EF-F5DE-4542-9057-810885B5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18308-7069-40F9-9711-181CA81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A3B6E-1E23-41E1-B4BE-AB0A03CD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702945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42950" y="1924050"/>
          <a:ext xmlns:a="http://schemas.openxmlformats.org/drawingml/2006/main" cx="647700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2e99885847470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8B2F6-58CB-4EAA-975C-BA418B5B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7909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DD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4E39C-477E-4893-BB77-543A6759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A1D37-5E09-4E72-A2EB-16F16942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#1 profit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39EF8-1637-4F5B-A829-93F83C6C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Tamara Chand: $9.0K profit at 47.14%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A44C9-CC4F-43D4-9665-EFEEB7B5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37909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7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16455-5EBD-44B2-A482-668D8769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5B63C-1A5C-4AAE-B45D-5C0C6CB1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#1 sales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4B2B6-EE06-4DC4-84DF-C1152050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Sean Miller: $25.0K sales but −$2.0K profit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D5A7A-B8B8-4ED6-A725-7C45C22D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Commercial 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3218E-3E9A-4F88-B324-C97586F1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3638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Rank accounts on both revenue and profit; repair pricing, mix or discount exposure in high-sales loss-makers.</a:t>
            </a:r>
          </a:p>
        </p:txBody>
      </p:sp>
    </p:spTree>
    <p:extLst>
      <p:ext uri="{BB962C8B-B14F-4D97-AF65-F5344CB8AC3E}">
        <p14:creationId xmlns:p14="http://schemas.microsoft.com/office/powerpoint/2010/main" val="11098008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9D2E4-A38C-474F-A4BE-72A643F8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MANAGEMENT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AA116-F27F-4E57-912C-4D0ACFCE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Four actions improve revenue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D2491-55E0-47FB-9779-F3A81132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21C82-DD68-4A92-804B-26A2F9EB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B9616-2A4D-4A47-981D-A4405307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Focus the operating cadence on where profit is created—or lost.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C0EAF-77E2-4A35-8D27-D34E7C73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11252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157CC-0F2B-4BD2-8965-27BAB522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43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43D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48730-BD7C-4B96-9613-753D1DC9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193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Control discounts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4A872-C65C-4779-9D95-DA41E94F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634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Low Discount as the default ceiling; approval and deal economics above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1CD57-AC09-4771-94B9-A6244454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11252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EF45B-608C-432B-9789-30BC7248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57A1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57A1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8C5B5-48F9-4AF1-B894-D90A468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1467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Recover Furniture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41BFD-1B18-4283-AAAC-E2727FDF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634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Start with Tables; review price, mix, cost and discount leakage before scaling.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F7F1F-4DC4-4B50-A9AC-FBAFED7E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111252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58D09-F390-4B4F-8B61-6D0D704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82B22-EA29-47FF-9A1B-AEA5DBCF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00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Customer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63118-A852-4FE4-BCAF-25FB1799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634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Rank accounts on sales and profit; repair high-sales, weak-profit relationships.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6340B-1843-4B52-9344-29C9738B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11252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2DED5-496B-4B77-B1E3-15208D5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E8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40416-4B2C-42A2-A92A-D5987311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728"/>
                </a:solidFill>
                <a:latin typeface="Arial"/>
                <a:ea typeface="Arial"/>
                <a:cs typeface="Arial"/>
              </a:rPr>
              <a:t>Plan for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C9D7C-A6D6-44D2-AD3F-629A7110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33950"/>
            <a:ext cx="634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Align capacity to Sep–Dec and protect margin through the peak-demand period.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D2EE6-A4D7-4363-844D-F02B4EDE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28F91-A129-4E8D-9DA4-6B88F283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74D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274D4"/>
                </a:solidFill>
                <a:latin typeface="Arial"/>
                <a:ea typeface="Arial"/>
                <a:cs typeface="Arial"/>
              </a:rPr>
              <a:t>Track monthly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D14A7-8A42-4391-BB00-13CBACE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341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Discount mix  •  Loss-making rate  •  Category margin  •  Customer profit  •  Regional margin</a:t>
            </a:r>
          </a:p>
        </p:txBody>
      </p:sp>
    </p:spTree>
    <p:extLst>
      <p:ext uri="{BB962C8B-B14F-4D97-AF65-F5344CB8AC3E}">
        <p14:creationId xmlns:p14="http://schemas.microsoft.com/office/powerpoint/2010/main" val="1522881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2026-09-02T03:22:18.4620000Z</dcterms:created>
  <dcterms:modified xsi:type="dcterms:W3CDTF">2026-09-02T03:22:18.4630000Z</dcterms:modified>
</coreProperties>
</file>